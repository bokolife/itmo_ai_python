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59" r:id="rId10"/>
    <p:sldId id="260" r:id="rId11"/>
    <p:sldId id="269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9E905-52A0-45ED-9C9C-A28033430761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03E16-C26B-4994-9A3B-8D6CE545FD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768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6209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1585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9328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29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0719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0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04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202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999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622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3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846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84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B405-6C25-4E07-83D0-95FF8BA0D780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746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6B405-6C25-4E07-83D0-95FF8BA0D780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69B72-0076-430B-982B-8BC9CB1BD8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40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Основы программирования на </a:t>
            </a:r>
            <a:r>
              <a:rPr lang="ru-RU" dirty="0" err="1"/>
              <a:t>Python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Занятие №1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530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Зачем этот курс?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 smtClean="0"/>
              <a:t>Python</a:t>
            </a:r>
            <a:r>
              <a:rPr lang="ru-RU" dirty="0" smtClean="0"/>
              <a:t> — один из главных инструментов работы с данными.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После курса вы сможете:</a:t>
            </a:r>
          </a:p>
          <a:p>
            <a:pPr lvl="1"/>
            <a:r>
              <a:rPr lang="ru-RU" dirty="0" smtClean="0"/>
              <a:t>писать код на </a:t>
            </a:r>
            <a:r>
              <a:rPr lang="ru-RU" dirty="0" err="1" smtClean="0"/>
              <a:t>Python</a:t>
            </a:r>
            <a:endParaRPr lang="ru-RU" dirty="0" smtClean="0"/>
          </a:p>
          <a:p>
            <a:pPr lvl="1"/>
            <a:r>
              <a:rPr lang="ru-RU" dirty="0" smtClean="0"/>
              <a:t>работать с таблицами данных</a:t>
            </a:r>
          </a:p>
          <a:p>
            <a:pPr lvl="1"/>
            <a:r>
              <a:rPr lang="ru-RU" dirty="0" smtClean="0"/>
              <a:t>строить визуализации</a:t>
            </a:r>
          </a:p>
          <a:p>
            <a:pPr lvl="1"/>
            <a:r>
              <a:rPr lang="ru-RU" dirty="0" smtClean="0"/>
              <a:t>очищать данные</a:t>
            </a:r>
          </a:p>
          <a:p>
            <a:pPr lvl="1"/>
            <a:r>
              <a:rPr lang="ru-RU" dirty="0" smtClean="0"/>
              <a:t>готовить данные к анализу и ML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0077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устроен курс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Курс состоит из 3 логических частей:</a:t>
            </a:r>
          </a:p>
          <a:p>
            <a:r>
              <a:rPr lang="ru-RU" dirty="0" smtClean="0"/>
              <a:t>Основы </a:t>
            </a:r>
            <a:r>
              <a:rPr lang="ru-RU" dirty="0" err="1" smtClean="0"/>
              <a:t>Python</a:t>
            </a:r>
            <a:endParaRPr lang="ru-RU" dirty="0" smtClean="0"/>
          </a:p>
          <a:p>
            <a:r>
              <a:rPr lang="ru-RU" dirty="0" smtClean="0"/>
              <a:t>Работа с данными (</a:t>
            </a:r>
            <a:r>
              <a:rPr lang="ru-RU" dirty="0" err="1" smtClean="0"/>
              <a:t>Pandas</a:t>
            </a:r>
            <a:r>
              <a:rPr lang="ru-RU" dirty="0" smtClean="0"/>
              <a:t>, </a:t>
            </a:r>
            <a:r>
              <a:rPr lang="ru-RU" dirty="0" err="1" smtClean="0"/>
              <a:t>Numpy</a:t>
            </a:r>
            <a:r>
              <a:rPr lang="ru-RU" dirty="0" smtClean="0"/>
              <a:t>)</a:t>
            </a:r>
          </a:p>
          <a:p>
            <a:r>
              <a:rPr lang="ru-RU" dirty="0" smtClean="0"/>
              <a:t>Практика очистки и подготовки </a:t>
            </a:r>
            <a:r>
              <a:rPr lang="ru-RU" dirty="0" smtClean="0"/>
              <a:t>данных для машинного обучения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6768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1. Основы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переменные</a:t>
            </a:r>
          </a:p>
          <a:p>
            <a:r>
              <a:rPr lang="ru-RU" dirty="0" smtClean="0"/>
              <a:t>типы данных</a:t>
            </a:r>
          </a:p>
          <a:p>
            <a:r>
              <a:rPr lang="ru-RU" dirty="0" smtClean="0"/>
              <a:t>арифметические операции</a:t>
            </a:r>
          </a:p>
          <a:p>
            <a:r>
              <a:rPr lang="ru-RU" dirty="0" smtClean="0"/>
              <a:t>условия (</a:t>
            </a:r>
            <a:r>
              <a:rPr lang="ru-RU" dirty="0" err="1" smtClean="0"/>
              <a:t>if</a:t>
            </a:r>
            <a:r>
              <a:rPr lang="ru-RU" dirty="0" smtClean="0"/>
              <a:t>)</a:t>
            </a:r>
          </a:p>
          <a:p>
            <a:r>
              <a:rPr lang="ru-RU" dirty="0" smtClean="0"/>
              <a:t>циклы (</a:t>
            </a:r>
            <a:r>
              <a:rPr lang="ru-RU" dirty="0" err="1" smtClean="0"/>
              <a:t>for</a:t>
            </a:r>
            <a:r>
              <a:rPr lang="ru-RU" dirty="0" smtClean="0"/>
              <a:t>, </a:t>
            </a:r>
            <a:r>
              <a:rPr lang="ru-RU" dirty="0" err="1" smtClean="0"/>
              <a:t>while</a:t>
            </a:r>
            <a:r>
              <a:rPr lang="ru-RU" dirty="0" smtClean="0"/>
              <a:t>)</a:t>
            </a:r>
          </a:p>
          <a:p>
            <a:r>
              <a:rPr lang="ru-RU" dirty="0" smtClean="0"/>
              <a:t>функции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Это фундамент.</a:t>
            </a:r>
            <a:br>
              <a:rPr lang="ru-RU" dirty="0" smtClean="0"/>
            </a:br>
            <a:r>
              <a:rPr lang="ru-RU" dirty="0" smtClean="0"/>
              <a:t>Без понимания этих конструкций невозможно работать с данными.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86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2. Работа в </a:t>
            </a:r>
            <a:r>
              <a:rPr lang="ru-RU" dirty="0" err="1" smtClean="0"/>
              <a:t>Colab</a:t>
            </a:r>
            <a:r>
              <a:rPr lang="ru-RU" dirty="0" smtClean="0"/>
              <a:t> и </a:t>
            </a:r>
            <a:r>
              <a:rPr lang="ru-RU" dirty="0" err="1" smtClean="0"/>
              <a:t>воспроизводимость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Мы научимся:</a:t>
            </a:r>
          </a:p>
          <a:p>
            <a:r>
              <a:rPr lang="ru-RU" dirty="0" smtClean="0"/>
              <a:t>работать в </a:t>
            </a:r>
            <a:r>
              <a:rPr lang="ru-RU" dirty="0" err="1" smtClean="0"/>
              <a:t>Google</a:t>
            </a:r>
            <a:r>
              <a:rPr lang="ru-RU" dirty="0" smtClean="0"/>
              <a:t> </a:t>
            </a:r>
            <a:r>
              <a:rPr lang="ru-RU" dirty="0" err="1" smtClean="0"/>
              <a:t>Colab</a:t>
            </a:r>
            <a:endParaRPr lang="ru-RU" dirty="0" smtClean="0"/>
          </a:p>
          <a:p>
            <a:r>
              <a:rPr lang="ru-RU" dirty="0" smtClean="0"/>
              <a:t>структурировать ноутбук</a:t>
            </a:r>
          </a:p>
          <a:p>
            <a:r>
              <a:rPr lang="ru-RU" dirty="0" smtClean="0"/>
              <a:t>сохранять и воспроизводить результаты</a:t>
            </a:r>
          </a:p>
          <a:p>
            <a:r>
              <a:rPr lang="ru-RU" dirty="0" smtClean="0"/>
              <a:t>понимать, зачем нужен </a:t>
            </a:r>
            <a:r>
              <a:rPr lang="ru-RU" dirty="0" err="1" smtClean="0"/>
              <a:t>Git</a:t>
            </a:r>
            <a:endParaRPr lang="ru-RU" dirty="0" smtClean="0"/>
          </a:p>
          <a:p>
            <a:endParaRPr lang="ru-RU" dirty="0"/>
          </a:p>
          <a:p>
            <a:pPr marL="0" indent="0">
              <a:buNone/>
            </a:pPr>
            <a:r>
              <a:rPr lang="ru-RU" dirty="0" smtClean="0"/>
              <a:t>Аналитика — это не только код,</a:t>
            </a:r>
            <a:r>
              <a:rPr lang="en-US" dirty="0" smtClean="0"/>
              <a:t> </a:t>
            </a:r>
            <a:r>
              <a:rPr lang="ru-RU" dirty="0" smtClean="0"/>
              <a:t>это </a:t>
            </a:r>
            <a:r>
              <a:rPr lang="ru-RU" dirty="0" smtClean="0"/>
              <a:t>еще </a:t>
            </a:r>
            <a:r>
              <a:rPr lang="ru-RU" dirty="0" smtClean="0"/>
              <a:t>и </a:t>
            </a:r>
            <a:r>
              <a:rPr lang="ru-RU" dirty="0" err="1" smtClean="0"/>
              <a:t>воспроизводимость</a:t>
            </a:r>
            <a:r>
              <a:rPr lang="ru-RU" dirty="0" smtClean="0"/>
              <a:t> результатов.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6532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3. Работа с данными: </a:t>
            </a:r>
            <a:r>
              <a:rPr lang="ru-RU" dirty="0" err="1" smtClean="0"/>
              <a:t>Numpy</a:t>
            </a:r>
            <a:r>
              <a:rPr lang="ru-RU" dirty="0" smtClean="0"/>
              <a:t> и </a:t>
            </a:r>
            <a:r>
              <a:rPr lang="ru-RU" dirty="0" err="1" smtClean="0"/>
              <a:t>Pandas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Мы научимся:</a:t>
            </a:r>
          </a:p>
          <a:p>
            <a:r>
              <a:rPr lang="ru-RU" dirty="0" smtClean="0"/>
              <a:t>работать с массивами</a:t>
            </a:r>
          </a:p>
          <a:p>
            <a:r>
              <a:rPr lang="ru-RU" dirty="0" smtClean="0"/>
              <a:t>читать данные из файлов</a:t>
            </a:r>
          </a:p>
          <a:p>
            <a:r>
              <a:rPr lang="ru-RU" dirty="0" smtClean="0"/>
              <a:t>фильтровать строки</a:t>
            </a:r>
          </a:p>
          <a:p>
            <a:r>
              <a:rPr lang="ru-RU" dirty="0" smtClean="0"/>
              <a:t>группировать данные</a:t>
            </a:r>
          </a:p>
          <a:p>
            <a:r>
              <a:rPr lang="ru-RU" dirty="0" smtClean="0"/>
              <a:t>считать агрегаты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err="1" smtClean="0"/>
              <a:t>Pandas</a:t>
            </a:r>
            <a:r>
              <a:rPr lang="ru-RU" dirty="0" smtClean="0"/>
              <a:t> — основной инструмент аналитика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1480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4. Визуализация и очистка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Мы разберем:</a:t>
            </a:r>
          </a:p>
          <a:p>
            <a:r>
              <a:rPr lang="ru-RU" dirty="0" smtClean="0"/>
              <a:t>построение графиков</a:t>
            </a:r>
          </a:p>
          <a:p>
            <a:r>
              <a:rPr lang="ru-RU" dirty="0" smtClean="0"/>
              <a:t>работу с пропусками</a:t>
            </a:r>
          </a:p>
          <a:p>
            <a:r>
              <a:rPr lang="ru-RU" dirty="0" smtClean="0"/>
              <a:t>обработку выбросов</a:t>
            </a:r>
          </a:p>
          <a:p>
            <a:r>
              <a:rPr lang="ru-RU" dirty="0" smtClean="0"/>
              <a:t>создание новых признаков</a:t>
            </a:r>
          </a:p>
          <a:p>
            <a:r>
              <a:rPr lang="ru-RU" dirty="0" smtClean="0"/>
              <a:t>перекодирование категориальных данных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Это шаг к реальной подготовке данных для ML.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7366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важно помнить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Ошибки — это нормально</a:t>
            </a:r>
          </a:p>
          <a:p>
            <a:pPr marL="0" indent="0">
              <a:buNone/>
            </a:pPr>
            <a:r>
              <a:rPr lang="ru-RU" dirty="0" smtClean="0"/>
              <a:t>Вопросы важно задавать</a:t>
            </a:r>
          </a:p>
          <a:p>
            <a:pPr marL="0" indent="0">
              <a:buNone/>
            </a:pPr>
            <a:r>
              <a:rPr lang="ru-RU" dirty="0" smtClean="0"/>
              <a:t>Код не понимается сразу</a:t>
            </a:r>
          </a:p>
          <a:p>
            <a:pPr marL="0" indent="0">
              <a:buNone/>
            </a:pPr>
            <a:r>
              <a:rPr lang="ru-RU" dirty="0" smtClean="0"/>
              <a:t>Прогресс приходит через повторение</a:t>
            </a:r>
          </a:p>
          <a:p>
            <a:pPr marL="0" indent="0">
              <a:buNone/>
            </a:pPr>
            <a:r>
              <a:rPr lang="ru-RU" dirty="0" smtClean="0"/>
              <a:t>Главное — не бояться писать код</a:t>
            </a:r>
          </a:p>
          <a:p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К концу курса вы сможете самостоятельно анализировать реальные данные.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5681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Как закрыть курс?</a:t>
            </a:r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11622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ru-RU" dirty="0" smtClean="0"/>
              <a:t>Форма оценивания дисциплины – экзамен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ru-RU" dirty="0" smtClean="0"/>
              <a:t>60-73 балла - “удовлетворительно”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ru-RU" dirty="0" smtClean="0"/>
              <a:t>74-90 балла - “хорошо”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ru-RU" dirty="0" smtClean="0"/>
              <a:t>91-103 балла - “отлично”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ru-RU" dirty="0" smtClean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dirty="0" smtClean="0"/>
              <a:t>5 домашних заданий - 100 баллов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ru-RU" dirty="0" smtClean="0"/>
          </a:p>
          <a:p>
            <a:pPr lvl="0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ru-RU" dirty="0" smtClean="0"/>
              <a:t>Мягкий </a:t>
            </a:r>
            <a:r>
              <a:rPr lang="ru-RU" dirty="0" err="1" smtClean="0"/>
              <a:t>дедлайн</a:t>
            </a:r>
            <a:r>
              <a:rPr lang="ru-RU" dirty="0" smtClean="0"/>
              <a:t> – неделя с момента выдачи ДЗ – полный балл</a:t>
            </a:r>
          </a:p>
          <a:p>
            <a:pPr lvl="0">
              <a:buClr>
                <a:schemeClr val="dk1"/>
              </a:buClr>
              <a:buSzPts val="2800"/>
            </a:pPr>
            <a:r>
              <a:rPr lang="ru-RU" dirty="0" smtClean="0"/>
              <a:t>Жесткий </a:t>
            </a:r>
            <a:r>
              <a:rPr lang="ru-RU" dirty="0" err="1" smtClean="0"/>
              <a:t>дедлайн</a:t>
            </a:r>
            <a:r>
              <a:rPr lang="ru-RU" dirty="0" smtClean="0"/>
              <a:t> – 2 недели с момента выдачи ДЗ – 50% баллов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7659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Как сдавать ДЗ?</a:t>
            </a:r>
            <a:endParaRPr dirty="0"/>
          </a:p>
        </p:txBody>
      </p:sp>
      <p:sp>
        <p:nvSpPr>
          <p:cNvPr id="107" name="Google Shape;107;p4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70065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Создать приватный </a:t>
            </a:r>
            <a:r>
              <a:rPr lang="ru-RU" dirty="0" err="1"/>
              <a:t>репозиторий</a:t>
            </a:r>
            <a:r>
              <a:rPr lang="ru-RU" dirty="0"/>
              <a:t> на </a:t>
            </a:r>
            <a:r>
              <a:rPr lang="ru-RU" dirty="0" err="1"/>
              <a:t>GitHub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Дать доступ @</a:t>
            </a:r>
            <a:r>
              <a:rPr lang="ru-RU" dirty="0" err="1" smtClean="0"/>
              <a:t>lyutovad</a:t>
            </a:r>
            <a:endParaRPr lang="ru-RU" dirty="0" smtClean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smtClean="0"/>
              <a:t>Внести свой </a:t>
            </a:r>
            <a:r>
              <a:rPr lang="ru-RU" dirty="0" err="1" smtClean="0"/>
              <a:t>репозиторий</a:t>
            </a:r>
            <a:r>
              <a:rPr lang="ru-RU" dirty="0" smtClean="0"/>
              <a:t> в таблицу для оценок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Каждая домашняя работа – PR в отдельную ветку </a:t>
            </a:r>
            <a:r>
              <a:rPr lang="ru-RU" dirty="0" err="1"/>
              <a:t>hw_n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Добавить @</a:t>
            </a:r>
            <a:r>
              <a:rPr lang="ru-RU" dirty="0" err="1"/>
              <a:t>lyutovad</a:t>
            </a:r>
            <a:r>
              <a:rPr lang="ru-RU" dirty="0"/>
              <a:t> </a:t>
            </a:r>
            <a:r>
              <a:rPr lang="ru-RU" dirty="0" smtClean="0"/>
              <a:t>как </a:t>
            </a:r>
            <a:r>
              <a:rPr lang="ru-RU" dirty="0" err="1" smtClean="0"/>
              <a:t>ревьювера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Дождаться </a:t>
            </a:r>
            <a:r>
              <a:rPr lang="ru-RU" dirty="0" err="1"/>
              <a:t>ревью</a:t>
            </a:r>
            <a:r>
              <a:rPr lang="ru-RU" dirty="0"/>
              <a:t>, если все </a:t>
            </a:r>
            <a:r>
              <a:rPr lang="ru-RU" dirty="0" err="1"/>
              <a:t>ок</a:t>
            </a:r>
            <a:r>
              <a:rPr lang="ru-RU" dirty="0"/>
              <a:t> – </a:t>
            </a:r>
            <a:r>
              <a:rPr lang="ru-RU" dirty="0" err="1"/>
              <a:t>мержим</a:t>
            </a:r>
            <a:r>
              <a:rPr lang="ru-RU" dirty="0"/>
              <a:t> в </a:t>
            </a:r>
            <a:r>
              <a:rPr lang="ru-RU" dirty="0" err="1"/>
              <a:t>main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Если не </a:t>
            </a:r>
            <a:r>
              <a:rPr lang="ru-RU" dirty="0" err="1"/>
              <a:t>ок</a:t>
            </a:r>
            <a:r>
              <a:rPr lang="ru-RU" dirty="0"/>
              <a:t> – вносим исправления и снова отправляем на </a:t>
            </a:r>
            <a:r>
              <a:rPr lang="ru-RU" dirty="0" err="1"/>
              <a:t>ревью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9460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" y="218757"/>
            <a:ext cx="10515600" cy="884555"/>
          </a:xfrm>
        </p:spPr>
        <p:txBody>
          <a:bodyPr/>
          <a:lstStyle/>
          <a:p>
            <a:r>
              <a:rPr lang="ru-RU" dirty="0" smtClean="0"/>
              <a:t>Пример открытия PR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623" y="2373948"/>
            <a:ext cx="7948753" cy="4336415"/>
          </a:xfrm>
          <a:prstGeom prst="rect">
            <a:avLst/>
          </a:prstGeom>
        </p:spPr>
      </p:pic>
      <p:sp>
        <p:nvSpPr>
          <p:cNvPr id="5" name="Google Shape;115;p5"/>
          <p:cNvSpPr txBox="1"/>
          <p:nvPr/>
        </p:nvSpPr>
        <p:spPr>
          <a:xfrm>
            <a:off x="803943" y="3803650"/>
            <a:ext cx="14189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Название PR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17;p5"/>
          <p:cNvSpPr txBox="1"/>
          <p:nvPr/>
        </p:nvSpPr>
        <p:spPr>
          <a:xfrm>
            <a:off x="10073641" y="4303121"/>
            <a:ext cx="128015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Добавляем </a:t>
            </a:r>
            <a:r>
              <a:rPr lang="ru-RU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ревьювера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19;p5"/>
          <p:cNvSpPr txBox="1"/>
          <p:nvPr/>
        </p:nvSpPr>
        <p:spPr>
          <a:xfrm>
            <a:off x="307555" y="4949452"/>
            <a:ext cx="28861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Комментарии по желанию</a:t>
            </a:r>
            <a:endParaRPr dirty="0"/>
          </a:p>
        </p:txBody>
      </p:sp>
      <p:cxnSp>
        <p:nvCxnSpPr>
          <p:cNvPr id="9" name="Прямая со стрелкой 8"/>
          <p:cNvCxnSpPr>
            <a:stCxn id="5" idx="0"/>
          </p:cNvCxnSpPr>
          <p:nvPr/>
        </p:nvCxnSpPr>
        <p:spPr>
          <a:xfrm flipV="1">
            <a:off x="1513432" y="3464049"/>
            <a:ext cx="1481806" cy="339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H="1" flipV="1">
            <a:off x="9102636" y="3791493"/>
            <a:ext cx="956856" cy="6552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V="1">
            <a:off x="1711849" y="4666422"/>
            <a:ext cx="1481806" cy="339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623" y="1377788"/>
            <a:ext cx="7602507" cy="826359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8384562" y="661035"/>
            <a:ext cx="3225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https://learngitbranching.js.org/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0564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Ожидания от курса</a:t>
            </a:r>
            <a:endParaRPr/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061357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800"/>
              <a:buChar char="•"/>
            </a:pPr>
            <a:r>
              <a:rPr lang="ru-RU" b="0" i="0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Я хочу чтобы на этом курсе было…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2328"/>
              </a:buClr>
              <a:buSzPts val="2800"/>
              <a:buChar char="•"/>
            </a:pPr>
            <a:r>
              <a:rPr lang="ru-RU" b="0" i="0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Я хочу чтобы на этом курсе НЕ было…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23583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376</Words>
  <Application>Microsoft Office PowerPoint</Application>
  <PresentationFormat>Широкоэкранный</PresentationFormat>
  <Paragraphs>87</Paragraphs>
  <Slides>12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Основы программирования на Python</vt:lpstr>
      <vt:lpstr>Зачем этот курс?</vt:lpstr>
      <vt:lpstr>Как устроен курс</vt:lpstr>
      <vt:lpstr>1. Основы Python</vt:lpstr>
      <vt:lpstr>2. Работа в Colab и воспроизводимость</vt:lpstr>
      <vt:lpstr>3. Работа с данными: Numpy и Pandas</vt:lpstr>
      <vt:lpstr>4. Визуализация и очистка данных</vt:lpstr>
      <vt:lpstr>Что важно помнить</vt:lpstr>
      <vt:lpstr>Как закрыть курс?</vt:lpstr>
      <vt:lpstr>Как сдавать ДЗ?</vt:lpstr>
      <vt:lpstr>Пример открытия PR</vt:lpstr>
      <vt:lpstr>Ожидания от курса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программирования на Python</dc:title>
  <dc:creator>Дарья</dc:creator>
  <cp:lastModifiedBy>Дарья</cp:lastModifiedBy>
  <cp:revision>16</cp:revision>
  <dcterms:created xsi:type="dcterms:W3CDTF">2026-02-27T08:04:58Z</dcterms:created>
  <dcterms:modified xsi:type="dcterms:W3CDTF">2026-02-27T13:23:12Z</dcterms:modified>
</cp:coreProperties>
</file>